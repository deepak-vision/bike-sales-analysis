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6" r:id="rId5"/>
    <p:sldId id="260" r:id="rId6"/>
    <p:sldId id="261" r:id="rId7"/>
    <p:sldId id="274" r:id="rId8"/>
    <p:sldId id="263" r:id="rId9"/>
    <p:sldId id="264" r:id="rId10"/>
    <p:sldId id="265" r:id="rId11"/>
    <p:sldId id="266" r:id="rId12"/>
    <p:sldId id="267" r:id="rId13"/>
    <p:sldId id="277" r:id="rId14"/>
    <p:sldId id="278" r:id="rId15"/>
    <p:sldId id="275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5B9B"/>
    <a:srgbClr val="736B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6C5B9B"/>
                </a:solidFill>
                <a:latin typeface="Cambria"/>
              </a:rPr>
              <a:t>Buyers by Education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Buyers</c:v>
                </c:pt>
              </c:strCache>
            </c:strRef>
          </c:tx>
          <c:spPr>
            <a:solidFill>
              <a:srgbClr val="6C5B9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Bachelors</c:v>
                </c:pt>
                <c:pt idx="1">
                  <c:v>Partial College</c:v>
                </c:pt>
                <c:pt idx="2">
                  <c:v>Graduate Degree</c:v>
                </c:pt>
                <c:pt idx="3">
                  <c:v>High School</c:v>
                </c:pt>
                <c:pt idx="4">
                  <c:v>Partial HS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169</c:v>
                </c:pt>
                <c:pt idx="1">
                  <c:v>119</c:v>
                </c:pt>
                <c:pt idx="2">
                  <c:v>94</c:v>
                </c:pt>
                <c:pt idx="3">
                  <c:v>79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CA-4737-87B7-74C6DFE5EF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GB" sz="1300" b="0" i="0" u="none" strike="noStrike">
                <a:solidFill>
                  <a:srgbClr val="6C5B9B"/>
                </a:solidFill>
                <a:latin typeface="Cambria"/>
              </a:rPr>
              <a:t>Purchase Rate by Cars Owned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</c:v>
                </c:pt>
              </c:strCache>
            </c:strRef>
          </c:tx>
          <c:spPr>
            <a:solidFill>
              <a:srgbClr val="6C5B9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 Cars</c:v>
                </c:pt>
                <c:pt idx="1">
                  <c:v>1 Car</c:v>
                </c:pt>
                <c:pt idx="2">
                  <c:v>2+ Cars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61.1</c:v>
                </c:pt>
                <c:pt idx="1">
                  <c:v>56.9</c:v>
                </c:pt>
                <c:pt idx="2">
                  <c:v>36.299999999999997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B5-4B0F-B21E-304DBF1560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GB" sz="1300" b="0" i="0" u="none" strike="noStrike">
                <a:solidFill>
                  <a:srgbClr val="6C5B9B"/>
                </a:solidFill>
                <a:latin typeface="Cambria"/>
              </a:rPr>
              <a:t>Purchase Rate by Age Group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5B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950-4150-B65D-D887E3A3B094}"/>
              </c:ext>
            </c:extLst>
          </c:dPt>
          <c:dPt>
            <c:idx val="1"/>
            <c:bubble3D val="0"/>
            <c:spPr>
              <a:solidFill>
                <a:srgbClr val="E874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50-4150-B65D-D887E3A3B094}"/>
              </c:ext>
            </c:extLst>
          </c:dPt>
          <c:dPt>
            <c:idx val="2"/>
            <c:bubble3D val="0"/>
            <c:spPr>
              <a:solidFill>
                <a:srgbClr val="D8CC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950-4150-B65D-D887E3A3B094}"/>
              </c:ext>
            </c:extLst>
          </c:dPt>
          <c:dLbls>
            <c:dLbl>
              <c:idx val="0"/>
              <c:numFmt formatCode="0.0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950-4150-B65D-D887E3A3B094}"/>
                </c:ext>
              </c:extLst>
            </c:dLbl>
            <c:dLbl>
              <c:idx val="1"/>
              <c:numFmt formatCode="0.0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950-4150-B65D-D887E3A3B094}"/>
                </c:ext>
              </c:extLst>
            </c:dLbl>
            <c:dLbl>
              <c:idx val="2"/>
              <c:numFmt formatCode="0.0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950-4150-B65D-D887E3A3B094}"/>
                </c:ext>
              </c:extLst>
            </c:dLbl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32-54</c:v>
                </c:pt>
                <c:pt idx="1">
                  <c:v>55-89</c:v>
                </c:pt>
                <c:pt idx="2">
                  <c:v>25-31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55.47</c:v>
                </c:pt>
                <c:pt idx="1">
                  <c:v>31.22</c:v>
                </c:pt>
                <c:pt idx="2">
                  <c:v>34.81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950-4150-B65D-D887E3A3B0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IN" sz="1250" b="0" i="0" u="none" strike="noStrike">
                <a:solidFill>
                  <a:srgbClr val="6C5B9B"/>
                </a:solidFill>
                <a:latin typeface="Cambria"/>
              </a:rPr>
              <a:t>Purchase Rate by Region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</c:v>
                </c:pt>
              </c:strCache>
            </c:strRef>
          </c:tx>
          <c:spPr>
            <a:solidFill>
              <a:srgbClr val="6C5B9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Pacific</c:v>
                </c:pt>
                <c:pt idx="1">
                  <c:v>Europe</c:v>
                </c:pt>
                <c:pt idx="2">
                  <c:v>North America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58.9</c:v>
                </c:pt>
                <c:pt idx="1">
                  <c:v>49.3</c:v>
                </c:pt>
                <c:pt idx="2">
                  <c:v>43.3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1C-4990-B610-12981FAE61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GB" sz="1250" b="0" i="0" u="none" strike="noStrike">
                <a:solidFill>
                  <a:srgbClr val="6C5B9B"/>
                </a:solidFill>
                <a:latin typeface="Cambria"/>
              </a:rPr>
              <a:t>Purchase Rate by Commute Distance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</c:v>
                </c:pt>
              </c:strCache>
            </c:strRef>
          </c:tx>
          <c:spPr>
            <a:solidFill>
              <a:srgbClr val="E8749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0-1 mi</c:v>
                </c:pt>
                <c:pt idx="1">
                  <c:v>1-2 mi</c:v>
                </c:pt>
                <c:pt idx="2">
                  <c:v>2-5 mi</c:v>
                </c:pt>
                <c:pt idx="3">
                  <c:v>5-10 mi</c:v>
                </c:pt>
                <c:pt idx="4">
                  <c:v>10+ mi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54.6</c:v>
                </c:pt>
                <c:pt idx="1">
                  <c:v>45.6</c:v>
                </c:pt>
                <c:pt idx="2">
                  <c:v>58.6</c:v>
                </c:pt>
                <c:pt idx="3">
                  <c:v>39.6</c:v>
                </c:pt>
                <c:pt idx="4">
                  <c:v>29.7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AF-486E-A180-F6B2AD0FA3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B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GB" sz="1300" b="0" i="0" u="none" strike="noStrike">
                <a:solidFill>
                  <a:srgbClr val="6C5B9B"/>
                </a:solidFill>
                <a:latin typeface="Cambria"/>
              </a:rPr>
              <a:t>Purchase Rate by Number of Children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</c:v>
                </c:pt>
              </c:strCache>
            </c:strRef>
          </c:tx>
          <c:spPr>
            <a:solidFill>
              <a:srgbClr val="6C5B9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50.5</c:v>
                </c:pt>
                <c:pt idx="1">
                  <c:v>57.4</c:v>
                </c:pt>
                <c:pt idx="2">
                  <c:v>46.4</c:v>
                </c:pt>
                <c:pt idx="3">
                  <c:v>54.5</c:v>
                </c:pt>
                <c:pt idx="4">
                  <c:v>42.9</c:v>
                </c:pt>
                <c:pt idx="5">
                  <c:v>22.2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C2-40FD-84A0-4239088B4A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GB" sz="1250" b="0" i="0" u="none" strike="noStrike">
                <a:solidFill>
                  <a:srgbClr val="6C5B9B"/>
                </a:solidFill>
                <a:latin typeface="Cambria"/>
              </a:rPr>
              <a:t>Purchase Rate: Home Owner vs Not, by Job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Non-Owner</c:v>
                </c:pt>
              </c:strCache>
            </c:strRef>
          </c:tx>
          <c:spPr>
            <a:solidFill>
              <a:srgbClr val="6C5B9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Clerical</c:v>
                </c:pt>
                <c:pt idx="1">
                  <c:v>Management</c:v>
                </c:pt>
                <c:pt idx="2">
                  <c:v>Manual</c:v>
                </c:pt>
                <c:pt idx="3">
                  <c:v>Professional</c:v>
                </c:pt>
                <c:pt idx="4">
                  <c:v>Skilled Manual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44.4</c:v>
                </c:pt>
                <c:pt idx="1">
                  <c:v>52.8</c:v>
                </c:pt>
                <c:pt idx="2">
                  <c:v>40.799999999999997</c:v>
                </c:pt>
                <c:pt idx="3">
                  <c:v>58.8</c:v>
                </c:pt>
                <c:pt idx="4">
                  <c:v>44.4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21-4BB8-B8D1-FB26FEFD1E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 Owner</c:v>
                </c:pt>
              </c:strCache>
            </c:strRef>
          </c:tx>
          <c:spPr>
            <a:solidFill>
              <a:srgbClr val="E8749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Clerical</c:v>
                </c:pt>
                <c:pt idx="1">
                  <c:v>Management</c:v>
                </c:pt>
                <c:pt idx="2">
                  <c:v>Manual</c:v>
                </c:pt>
                <c:pt idx="3">
                  <c:v>Professional</c:v>
                </c:pt>
                <c:pt idx="4">
                  <c:v>Skilled Manual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52.6</c:v>
                </c:pt>
                <c:pt idx="1">
                  <c:v>39.4</c:v>
                </c:pt>
                <c:pt idx="2">
                  <c:v>50</c:v>
                </c:pt>
                <c:pt idx="3">
                  <c:v>52</c:v>
                </c:pt>
                <c:pt idx="4">
                  <c:v>45.4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21-4BB8-B8D1-FB26FEFD1E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839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FB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1645920"/>
            <a:ext cx="5486400" cy="5486400"/>
          </a:xfrm>
          <a:prstGeom prst="ellipse">
            <a:avLst/>
          </a:prstGeom>
          <a:solidFill>
            <a:srgbClr val="E7E0F5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-731520"/>
            <a:ext cx="3657600" cy="3657600"/>
          </a:xfrm>
          <a:prstGeom prst="ellipse">
            <a:avLst/>
          </a:prstGeom>
          <a:ln w="15875">
            <a:solidFill>
              <a:srgbClr val="E874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0" y="0"/>
            <a:ext cx="2194560" cy="2194560"/>
          </a:xfrm>
          <a:prstGeom prst="ellipse">
            <a:avLst/>
          </a:prstGeom>
          <a:ln w="12700">
            <a:solidFill>
              <a:srgbClr val="8471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 Sales 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look at who buys bikes, who doesn't, and why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280160" cy="0"/>
          </a:xfrm>
          <a:prstGeom prst="line">
            <a:avLst/>
          </a:prstGeom>
          <a:noFill/>
          <a:ln w="31750">
            <a:solidFill>
              <a:srgbClr val="E874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Deepak Niwalkar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Spreadsheet Project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32120" cy="4709160"/>
          </a:xfrm>
          <a:prstGeom prst="roundRect">
            <a:avLst>
              <a:gd name="adj" fmla="val 1165"/>
            </a:avLst>
          </a:prstGeom>
          <a:solidFill>
            <a:srgbClr val="F5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bike shop has data on 1,000 customers. Some bought a bike, most did not. The marketing team wants to know who is most likely to buy, so money is spent on the right people.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47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looks at income, age, job, family size and commute distance to find out what makes someone buy a bike. Every finding here comes straight from the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C5B9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1389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the buyer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95160" y="1691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which customers are most likely to buy, based on age, income, job and family size.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2560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C5B9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2532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barriers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95160" y="2834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some groups, like people with more cars or higher income, buy less.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C5B9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3675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regions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95160" y="3977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sales are strong today and where the biggest opportunity is.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4846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C5B9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818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next steps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95160" y="5120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what the data shows into simple, practical marketing ideas.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 &amp; Cleaning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727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30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14630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5727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2130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buyers (48.1%)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5727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0" y="2130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record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sheet holds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customer. It shows their marital status, gender, income, education, job, cars owned, commute distance, region, age, and whether they bought a bike.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Yes/No column shows if they bought a bike, so every other detail can be checked against it.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enrichment steps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an Age-Group column (25-31, 32-54, 55-89) using a simple IF formula.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Income Bracket column to group customers by how much they earn.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customers who earn over $70k, live close by, own no car, and already bought a bike.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conditional formatting to show high income (over $90k) in green and low income (under $40k) in red.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1463040"/>
            <a:ext cx="5212080" cy="4709160"/>
          </a:xfrm>
          <a:prstGeom prst="roundRect">
            <a:avLst>
              <a:gd name="adj" fmla="val 1165"/>
            </a:avLst>
          </a:prstGeom>
          <a:solidFill>
            <a:srgbClr val="6C5B9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dataset matters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219456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sits right next to the Yes/No purchase result, so any customer detail can be checked against real buying behaviour.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1,000 customers split almost evenly between buyers and non-buyers, the comparisons here are based on real numbers, not guesses.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income, cars and commute are all in one sheet, we can tell apart who can afford a bike from who actually wants 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7C253F9-19FF-3C55-4BFB-631E1FB4D480}"/>
              </a:ext>
            </a:extLst>
          </p:cNvPr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01A84BA-11A5-4B2F-9C1B-94E73C990722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Tools</a:t>
            </a:r>
            <a:endParaRPr lang="en-US" sz="28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0E75534-9E6C-AE27-2054-50127875FAFB}"/>
              </a:ext>
            </a:extLst>
          </p:cNvPr>
          <p:cNvSpPr/>
          <p:nvPr/>
        </p:nvSpPr>
        <p:spPr>
          <a:xfrm>
            <a:off x="548640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5F2FB"/>
          </a:solidFill>
          <a:ln/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FCC331E-FA45-89F2-3E60-3F80F2A58FC6}"/>
              </a:ext>
            </a:extLst>
          </p:cNvPr>
          <p:cNvSpPr/>
          <p:nvPr/>
        </p:nvSpPr>
        <p:spPr>
          <a:xfrm>
            <a:off x="548640" y="17373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Used</a:t>
            </a:r>
            <a:endParaRPr lang="en-US" sz="18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C5C3293-0041-CA83-F9F9-5B9F0BFBDDBE}"/>
              </a:ext>
            </a:extLst>
          </p:cNvPr>
          <p:cNvSpPr/>
          <p:nvPr/>
        </p:nvSpPr>
        <p:spPr>
          <a:xfrm>
            <a:off x="960120" y="237744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COUNTIFS / COUNTIF — count buyers, non-buyers and category totals.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AVERAGEIFS — average income, cars owned and age by segment.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 — build the Age-Group and Income Bracket columns.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 — occupation, region, education and job cross-tabs.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purchase-rate formulas — compare groups fairly.</a:t>
            </a:r>
            <a:endParaRPr lang="en-US" sz="125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F8C06388-9B93-7785-F152-9EB1142301DA}"/>
              </a:ext>
            </a:extLst>
          </p:cNvPr>
          <p:cNvSpPr/>
          <p:nvPr/>
        </p:nvSpPr>
        <p:spPr>
          <a:xfrm>
            <a:off x="6217920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5F2FB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F8DE9B2-4231-B9E0-AEBE-5E1B7B1F6F38}"/>
              </a:ext>
            </a:extLst>
          </p:cNvPr>
          <p:cNvSpPr/>
          <p:nvPr/>
        </p:nvSpPr>
        <p:spPr>
          <a:xfrm>
            <a:off x="6217920" y="17373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Tools Used</a:t>
            </a:r>
            <a:endParaRPr lang="en-US" sz="18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78D621F-F2A4-6A42-B55C-A6A43D4DA2FC}"/>
              </a:ext>
            </a:extLst>
          </p:cNvPr>
          <p:cNvSpPr/>
          <p:nvPr/>
        </p:nvSpPr>
        <p:spPr>
          <a:xfrm>
            <a:off x="6629400" y="237744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Column Charts — compare purchase rate across groups.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 — show age-group and region splits.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Columns — compare two groups side by side (e.g. home owner vs not).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— filter the dashboard by region, job, education and age group.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combine KPIs, charts and filters in one view.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717118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Higher Education Means More Bike Buyers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309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50876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78040" y="16184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 of buyers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78040" y="20848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Bachelor's degree — the single largest group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086600" y="260604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78040" y="27157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54.4%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178040" y="31821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among Professionals — the highest of any occupation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86600" y="37490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pattern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411480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and Partial College graduates make up 60% of all buyers. Education level closely matches who buys a bike.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buy the most (54.4%), while Managers buy the least (42.2%) even though they earn more. So income alone doesn't decide the sale.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Cars Owned Affects Bike Buying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309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50876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78040" y="16184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1.21 vs 1.66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78040" y="20848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cars owned: buyers vs non-buyers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086600" y="260604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78040" y="27157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 customers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178040" y="31821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2+ cars yet still bought a bike — a real but smaller segment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86600" y="37490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pattern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411480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purchase rate drops a lot as car count goes up — from 61% (0 cars) to just 36% (2+ cars). A bike seems to fill a transport need, not compete as an extra.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car count is a better way to find buyers than income or age alone.</a:t>
            </a:r>
            <a:endParaRPr lang="en-US" sz="11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B23978-8238-F60D-1A5E-9C0A97FD4FC5}"/>
              </a:ext>
            </a:extLst>
          </p:cNvPr>
          <p:cNvSpPr txBox="1"/>
          <p:nvPr/>
        </p:nvSpPr>
        <p:spPr>
          <a:xfrm>
            <a:off x="9339943" y="9423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">
            <a:extLst>
              <a:ext uri="{FF2B5EF4-FFF2-40B4-BE49-F238E27FC236}">
                <a16:creationId xmlns:a16="http://schemas.microsoft.com/office/drawing/2014/main" id="{2BA8A1F9-963F-55CF-FD04-E34CCA7CD0AC}"/>
              </a:ext>
            </a:extLst>
          </p:cNvPr>
          <p:cNvSpPr/>
          <p:nvPr/>
        </p:nvSpPr>
        <p:spPr>
          <a:xfrm>
            <a:off x="8983980" y="1517904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2909C56B-3BF4-9CBC-FAB8-A0369DA3BB41}"/>
              </a:ext>
            </a:extLst>
          </p:cNvPr>
          <p:cNvSpPr/>
          <p:nvPr/>
        </p:nvSpPr>
        <p:spPr>
          <a:xfrm>
            <a:off x="6174062" y="1508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EF7CE45-AD51-1F86-7F10-B28BAC5D70AB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Age matters more than any other factor in deciding who buys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6C8E7ACE-CD9A-3F9E-C012-E8ED15C2D1D2}"/>
              </a:ext>
            </a:extLst>
          </p:cNvPr>
          <p:cNvGraphicFramePr/>
          <p:nvPr/>
        </p:nvGraphicFramePr>
        <p:xfrm>
          <a:off x="548640" y="146304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54C2C096-8DA3-1B10-18F2-996AB996604D}"/>
              </a:ext>
            </a:extLst>
          </p:cNvPr>
          <p:cNvSpPr/>
          <p:nvPr/>
        </p:nvSpPr>
        <p:spPr>
          <a:xfrm>
            <a:off x="617220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55.5%</a:t>
            </a:r>
            <a:endParaRPr lang="en-US" sz="26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8E5561D-E13A-8880-6F51-5165F35EFCDA}"/>
              </a:ext>
            </a:extLst>
          </p:cNvPr>
          <p:cNvSpPr/>
          <p:nvPr/>
        </p:nvSpPr>
        <p:spPr>
          <a:xfrm>
            <a:off x="6172200" y="2057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purchase rate of any age group</a:t>
            </a:r>
            <a:endParaRPr lang="en-US" sz="115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24618D4-8176-E3C1-130F-FE18F69B9E51}"/>
              </a:ext>
            </a:extLst>
          </p:cNvPr>
          <p:cNvSpPr/>
          <p:nvPr/>
        </p:nvSpPr>
        <p:spPr>
          <a:xfrm>
            <a:off x="905256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31.2%</a:t>
            </a:r>
            <a:endParaRPr lang="en-US" sz="2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B2FAAC6F-CC6B-D16D-DFA5-4B2ECE5CD8B6}"/>
              </a:ext>
            </a:extLst>
          </p:cNvPr>
          <p:cNvSpPr/>
          <p:nvPr/>
        </p:nvSpPr>
        <p:spPr>
          <a:xfrm>
            <a:off x="9052560" y="2057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purchase rate — 55-89 age group</a:t>
            </a:r>
            <a:endParaRPr lang="en-US" sz="115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C76CBDC5-EF1E-82B2-29CA-FD58BCA7A398}"/>
              </a:ext>
            </a:extLst>
          </p:cNvPr>
          <p:cNvSpPr/>
          <p:nvPr/>
        </p:nvSpPr>
        <p:spPr>
          <a:xfrm>
            <a:off x="6172200" y="2606040"/>
            <a:ext cx="5623560" cy="0"/>
          </a:xfrm>
          <a:prstGeom prst="line">
            <a:avLst/>
          </a:prstGeom>
          <a:noFill/>
          <a:ln w="12700">
            <a:solidFill>
              <a:srgbClr val="E7E0F5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60561F63-5AF6-3130-5C5F-28D49DCAE69B}"/>
              </a:ext>
            </a:extLst>
          </p:cNvPr>
          <p:cNvSpPr/>
          <p:nvPr/>
        </p:nvSpPr>
        <p:spPr>
          <a:xfrm>
            <a:off x="6172200" y="2834640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 for targeting</a:t>
            </a:r>
            <a:endParaRPr lang="en-US" sz="14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E97E7A0-9CBF-B5FB-3CCB-6FB6C5F78AA0}"/>
              </a:ext>
            </a:extLst>
          </p:cNvPr>
          <p:cNvSpPr/>
          <p:nvPr/>
        </p:nvSpPr>
        <p:spPr>
          <a:xfrm>
            <a:off x="6172200" y="3200400"/>
            <a:ext cx="5623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all buyers are aged 32-54. This one age group is the real customer base.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and older customers </a:t>
            </a:r>
            <a:r>
              <a:rPr lang="en-IN" sz="1200" dirty="0"/>
              <a:t>buy at meaningfully lower rates</a:t>
            </a: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Relying on just one age group is risky.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makes almost no difference — Male (47.4%) and Female (48.9%) buy at nearly the same rate. Age matters far more than gender.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1298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Data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women bought a bike. That is a big, clear group.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737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earning under $40k still bought a bike. Low income doesn't stop everyone.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737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$67,241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66760" y="2331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average income of buyers with 3+ children — a wealthier family segment worth watching.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23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Skilled Manual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common job among people who did not buy (140 people) — worth a closer look.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023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$86,647 avg.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0" y="4617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average income for Management, the highest of any job. But they buy the least (42.2%).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840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023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customers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66760" y="4617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all four best signs: high income, short commute, no car, and already bought a bike.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Best Sales Come From Pacific and Short Commutes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486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309360" y="1508760"/>
          <a:ext cx="53492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has the most buyers (220) but the lowest purchase rate — the biggest market with the most room to grow. For commute distance, 2-5 miles works best (58.6%), while 10+ miles barely converts at all (29.7%).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Who's most likely to buy — and why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37160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137160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54.1% purchase rate vs 42.9% for married customers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Owned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cars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219456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61.1% purchase rate — the strongest single signal in the data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32-54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301752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55.5% purchase rate and 78% of all buyers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4048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84048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2-5 miles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84048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58.6% purchase rate — the sweet spot, not too short or too long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634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466344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466344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 purchase rate — the best-converting occupation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5445345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C5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the ideal buyer is single, aged 32-54, works as a professional, owns 0-1 cars, and has a short commute. A bike fits their life easily.</a:t>
            </a:r>
            <a:endParaRPr lang="en-US" sz="1250" dirty="0">
              <a:solidFill>
                <a:srgbClr val="6C5B9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More children, fewer bikes — money's the real reason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309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508760"/>
            <a:ext cx="4526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78040" y="161848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5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22.2%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78040" y="21305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for 5-child families — less than half the overall average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86600" y="2757191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pattern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3094961"/>
            <a:ext cx="4526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isn't a straight line — families with 1 or 3 children buy more than those with 2 or 4. But 5+ children is a clear drop, likely due to budget.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(40.1%) and low-education (26.3%) customers buy less than the 48.1% average. This is a real gap in the numbers — not a lack of interest.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Owning a home doesn't affect everyone the same way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630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43800" y="157276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58.8% vs 39.4%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43800" y="213055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without a home buy the most; Managers who own a home buy the least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452360" y="265176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276148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47.4%  ·  F 48.9%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43800" y="33192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barely changes the purchase rate, and income is close too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52360" y="38404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52360" y="4206240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a home changes things differently for each job. For Professionals and Managers, not owning a home means buying more. For Clerical and Manual jobs, it is the opposite.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home ownership is not one simple rule — it depends on the job. Marketing should not treat all home owners the same way.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distance also shifts by region: Europe averages 2.1 miles, North America 4.2 miles, and Pacific 5.2 miles — worth knowing when setting region-wise messaging.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38AF51C1-ECCE-75D7-968B-1E845B6C5937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7D15C8A-DE82-30C3-8B42-2B0A106EBD9E}"/>
              </a:ext>
            </a:extLst>
          </p:cNvPr>
          <p:cNvSpPr/>
          <p:nvPr/>
        </p:nvSpPr>
        <p:spPr>
          <a:xfrm>
            <a:off x="548640" y="15087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C5B9B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52D5AA1-3D8A-24D9-B0F9-50D8BD436862}"/>
              </a:ext>
            </a:extLst>
          </p:cNvPr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ln w="25400">
            <a:solidFill>
              <a:srgbClr val="E8749A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AE2FFBE-F00F-259C-6B8B-0752AACD7BBE}"/>
              </a:ext>
            </a:extLst>
          </p:cNvPr>
          <p:cNvSpPr/>
          <p:nvPr/>
        </p:nvSpPr>
        <p:spPr>
          <a:xfrm>
            <a:off x="813816" y="1773936"/>
            <a:ext cx="292608" cy="292608"/>
          </a:xfrm>
          <a:prstGeom prst="ellipse">
            <a:avLst/>
          </a:prstGeom>
          <a:ln w="22225">
            <a:solidFill>
              <a:srgbClr val="FFFFFF"/>
            </a:solidFill>
            <a:prstDash val="solid"/>
          </a:ln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92A1ED80-D7FA-DA7E-7255-905A024FADF0}"/>
              </a:ext>
            </a:extLst>
          </p:cNvPr>
          <p:cNvSpPr/>
          <p:nvPr/>
        </p:nvSpPr>
        <p:spPr>
          <a:xfrm>
            <a:off x="914400" y="1874520"/>
            <a:ext cx="91440" cy="91440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EEDF01B-E785-6AA7-7F3A-D650C50AFBB1}"/>
              </a:ext>
            </a:extLst>
          </p:cNvPr>
          <p:cNvSpPr/>
          <p:nvPr/>
        </p:nvSpPr>
        <p:spPr>
          <a:xfrm>
            <a:off x="1554480" y="15361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by Lifestyle, Not Just Demographics</a:t>
            </a:r>
            <a:endParaRPr lang="en-US" sz="17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7AEAF580-C18F-2FB9-C39C-495BA05179A1}"/>
              </a:ext>
            </a:extLst>
          </p:cNvPr>
          <p:cNvSpPr/>
          <p:nvPr/>
        </p:nvSpPr>
        <p:spPr>
          <a:xfrm>
            <a:off x="1554480" y="19659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ownership and commute distance are simpler, stronger clues than income, age, or gender on their own — 0-car households buy at 61.1% vs 36.3% for 2+ cars.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car ownership and commute distance as the main way to find buyers, ahead of income or age. This means better leads and less wasted ad spend.</a:t>
            </a:r>
            <a:endParaRPr lang="en-US" sz="12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6BA96304-79A1-958E-A009-8D45C419BE35}"/>
              </a:ext>
            </a:extLst>
          </p:cNvPr>
          <p:cNvSpPr/>
          <p:nvPr/>
        </p:nvSpPr>
        <p:spPr>
          <a:xfrm>
            <a:off x="548640" y="3611880"/>
            <a:ext cx="11064240" cy="0"/>
          </a:xfrm>
          <a:prstGeom prst="line">
            <a:avLst/>
          </a:prstGeom>
          <a:noFill/>
          <a:ln w="12700">
            <a:solidFill>
              <a:srgbClr val="E7E0F5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E6816CF1-E5D1-0AA4-01A9-6D8FE29DB83F}"/>
              </a:ext>
            </a:extLst>
          </p:cNvPr>
          <p:cNvSpPr/>
          <p:nvPr/>
        </p:nvSpPr>
        <p:spPr>
          <a:xfrm>
            <a:off x="548640" y="38862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C5B9B"/>
          </a:solidFill>
          <a:ln/>
        </p:spPr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E828AB31-4383-08E9-8295-6200F0CDF4D5}"/>
              </a:ext>
            </a:extLst>
          </p:cNvPr>
          <p:cNvSpPr/>
          <p:nvPr/>
        </p:nvSpPr>
        <p:spPr>
          <a:xfrm>
            <a:off x="685800" y="4087368"/>
            <a:ext cx="5486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3572EBB5-F294-F8E0-0A2A-CD0AC78968A2}"/>
              </a:ext>
            </a:extLst>
          </p:cNvPr>
          <p:cNvSpPr/>
          <p:nvPr/>
        </p:nvSpPr>
        <p:spPr>
          <a:xfrm>
            <a:off x="685800" y="4087368"/>
            <a:ext cx="548640" cy="146304"/>
          </a:xfrm>
          <a:prstGeom prst="roundRect">
            <a:avLst>
              <a:gd name="adj" fmla="val 37500"/>
            </a:avLst>
          </a:prstGeom>
          <a:solidFill>
            <a:srgbClr val="E8749A"/>
          </a:solidFill>
          <a:ln/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8017EC9E-7814-B0E6-BF27-580AEE555B37}"/>
              </a:ext>
            </a:extLst>
          </p:cNvPr>
          <p:cNvSpPr/>
          <p:nvPr/>
        </p:nvSpPr>
        <p:spPr>
          <a:xfrm>
            <a:off x="1005840" y="4270248"/>
            <a:ext cx="164592" cy="164592"/>
          </a:xfrm>
          <a:prstGeom prst="ellipse">
            <a:avLst/>
          </a:prstGeom>
          <a:solidFill>
            <a:srgbClr val="8471B8"/>
          </a:solidFill>
          <a:ln w="12700">
            <a:solidFill>
              <a:srgbClr val="E8749A"/>
            </a:solidFill>
            <a:prstDash val="solid"/>
          </a:ln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B796756F-3C55-ED34-DCD4-1A764D13A560}"/>
              </a:ext>
            </a:extLst>
          </p:cNvPr>
          <p:cNvSpPr/>
          <p:nvPr/>
        </p:nvSpPr>
        <p:spPr>
          <a:xfrm>
            <a:off x="1554480" y="39136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Bikes Affordable for Every Budget</a:t>
            </a:r>
            <a:endParaRPr lang="en-US" sz="17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11C6E8E9-BB9C-2822-88A8-8CC0E26681D3}"/>
              </a:ext>
            </a:extLst>
          </p:cNvPr>
          <p:cNvSpPr/>
          <p:nvPr/>
        </p:nvSpPr>
        <p:spPr>
          <a:xfrm>
            <a:off x="1554480" y="434340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High School customers buy at just 26.3% and under-$40k earners at 40.1% — both below the 48.1% average. But 113 low-income customers still bought, so the interest is real.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EMI/financing options and a genuine low-cost bike model. Talk about savings and practical value, not lifestyle branding.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closes part of the gap for these groups, without touching the premium line aimed at higher earners.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416937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3B293F93-4AC0-BE56-67ED-8190E971EC83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F4FDA54-57AF-F6D0-CB83-C75E32F9D0DA}"/>
              </a:ext>
            </a:extLst>
          </p:cNvPr>
          <p:cNvSpPr/>
          <p:nvPr/>
        </p:nvSpPr>
        <p:spPr>
          <a:xfrm>
            <a:off x="548640" y="15087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C5B9B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09EB78D-640F-79A9-00F2-C6F8CFBC6BB2}"/>
              </a:ext>
            </a:extLst>
          </p:cNvPr>
          <p:cNvSpPr/>
          <p:nvPr/>
        </p:nvSpPr>
        <p:spPr>
          <a:xfrm>
            <a:off x="768096" y="1655064"/>
            <a:ext cx="384048" cy="384048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A16B064-65D9-714A-BAE1-BA5CDBD102CE}"/>
              </a:ext>
            </a:extLst>
          </p:cNvPr>
          <p:cNvSpPr/>
          <p:nvPr/>
        </p:nvSpPr>
        <p:spPr>
          <a:xfrm rot="10800000">
            <a:off x="841248" y="1892808"/>
            <a:ext cx="237744" cy="256032"/>
          </a:xfrm>
          <a:prstGeom prst="triangle">
            <a:avLst/>
          </a:prstGeom>
          <a:solidFill>
            <a:srgbClr val="E8749A"/>
          </a:solidFill>
          <a:ln/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12AF7A3-3DE0-A7AA-31D0-1ED6E3867021}"/>
              </a:ext>
            </a:extLst>
          </p:cNvPr>
          <p:cNvSpPr/>
          <p:nvPr/>
        </p:nvSpPr>
        <p:spPr>
          <a:xfrm>
            <a:off x="896112" y="1783080"/>
            <a:ext cx="128016" cy="128016"/>
          </a:xfrm>
          <a:prstGeom prst="ellipse">
            <a:avLst/>
          </a:prstGeom>
          <a:solidFill>
            <a:srgbClr val="6C5B9B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8F30882C-D266-8372-7B68-3FD46967B293}"/>
              </a:ext>
            </a:extLst>
          </p:cNvPr>
          <p:cNvSpPr/>
          <p:nvPr/>
        </p:nvSpPr>
        <p:spPr>
          <a:xfrm>
            <a:off x="1554480" y="15361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North America Using the Pacific Playbook</a:t>
            </a:r>
            <a:endParaRPr lang="en-US" sz="17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93E34F2-3CE3-C0EA-6BF0-0298568057DA}"/>
              </a:ext>
            </a:extLst>
          </p:cNvPr>
          <p:cNvSpPr/>
          <p:nvPr/>
        </p:nvSpPr>
        <p:spPr>
          <a:xfrm>
            <a:off x="1554480" y="19659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has the most customers of any region (508 of 1,000) but only 43.3% buy. Pacific, the smallest region, converts 58.9% — the best of the three.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what works in the Pacific region and test the same approach in a small part of North America first. Closing even half this gap adds roughly 80 more buyers.</a:t>
            </a:r>
            <a:endParaRPr lang="en-US" sz="12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3CB7F51F-165E-B084-05D0-0ECD44F948F2}"/>
              </a:ext>
            </a:extLst>
          </p:cNvPr>
          <p:cNvSpPr/>
          <p:nvPr/>
        </p:nvSpPr>
        <p:spPr>
          <a:xfrm>
            <a:off x="548640" y="3611880"/>
            <a:ext cx="11064240" cy="0"/>
          </a:xfrm>
          <a:prstGeom prst="line">
            <a:avLst/>
          </a:prstGeom>
          <a:noFill/>
          <a:ln w="12700">
            <a:solidFill>
              <a:srgbClr val="E7E0F5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B9F8F23D-30FE-C0E9-3D64-3B064B4F84E0}"/>
              </a:ext>
            </a:extLst>
          </p:cNvPr>
          <p:cNvSpPr/>
          <p:nvPr/>
        </p:nvSpPr>
        <p:spPr>
          <a:xfrm>
            <a:off x="548640" y="38862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C5B9B"/>
          </a:solidFill>
          <a:ln/>
        </p:spPr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BC103E2F-37F4-36AE-B430-C00B595B5EB5}"/>
              </a:ext>
            </a:extLst>
          </p:cNvPr>
          <p:cNvSpPr/>
          <p:nvPr/>
        </p:nvSpPr>
        <p:spPr>
          <a:xfrm>
            <a:off x="694944" y="4178808"/>
            <a:ext cx="53035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89C4A4C0-597B-CC9F-9DDA-3395B04C2B2E}"/>
              </a:ext>
            </a:extLst>
          </p:cNvPr>
          <p:cNvSpPr/>
          <p:nvPr/>
        </p:nvSpPr>
        <p:spPr>
          <a:xfrm>
            <a:off x="850392" y="4069080"/>
            <a:ext cx="219456" cy="146304"/>
          </a:xfrm>
          <a:prstGeom prst="roundRect">
            <a:avLst>
              <a:gd name="adj" fmla="val 18750"/>
            </a:avLst>
          </a:prstGeom>
          <a:ln w="25400">
            <a:solidFill>
              <a:srgbClr val="E8749A"/>
            </a:solidFill>
            <a:prstDash val="solid"/>
          </a:ln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E7A859DF-5D8E-0DC3-84BE-069E20F1F26C}"/>
              </a:ext>
            </a:extLst>
          </p:cNvPr>
          <p:cNvSpPr/>
          <p:nvPr/>
        </p:nvSpPr>
        <p:spPr>
          <a:xfrm>
            <a:off x="694944" y="4343400"/>
            <a:ext cx="530352" cy="0"/>
          </a:xfrm>
          <a:prstGeom prst="line">
            <a:avLst/>
          </a:prstGeom>
          <a:noFill/>
          <a:ln w="19050">
            <a:solidFill>
              <a:srgbClr val="E8749A"/>
            </a:solidFill>
            <a:prstDash val="solid"/>
          </a:ln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94CCE349-B094-1B5A-0451-F327978EAFD7}"/>
              </a:ext>
            </a:extLst>
          </p:cNvPr>
          <p:cNvSpPr/>
          <p:nvPr/>
        </p:nvSpPr>
        <p:spPr>
          <a:xfrm>
            <a:off x="1554480" y="39136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 Outreach by Job and Home Ownership</a:t>
            </a:r>
            <a:endParaRPr lang="en-US" sz="17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A32C97B8-39BF-7BC9-4305-C5864B0CB91B}"/>
              </a:ext>
            </a:extLst>
          </p:cNvPr>
          <p:cNvSpPr/>
          <p:nvPr/>
        </p:nvSpPr>
        <p:spPr>
          <a:xfrm>
            <a:off x="1554480" y="4352731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 does not affect every job the same way. Professionals and Managers buy less once they own a home, while Clerical and Manual workers buy more.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two separate messages instead of one generic pitch — one for career-focused buyers still renting, one for settled working-class households.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a confusing mixed signal into two clear, targetable groups.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154153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CEBE0E-29C0-E859-A71B-9CAB2A531A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784" b="18960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DF1CBF-3FC4-7D9F-AAB7-6719869B08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5"/>
          <a:stretch>
            <a:fillRect/>
          </a:stretch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917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63624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3560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ideal buyer is single, aged 32-54, works as a professional, and owns 0-1 cars.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93976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commute and fewer cars matter more than a big income.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9631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32-54 age group makes up 78% of all buyers — the real core of the business.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2666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makes almost no difference in who buys a bike (Male 47.4%, Female 48.9%).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5701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converts best (58.9%), while North America has the most customers but converts worst (43.3%).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8736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 only matters for some jobs — Professionals and Managers behave the opposite way to Clerical and Manual workers.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17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with 5 or more children buy far less, most likely because of budget.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276088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480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 and low education customers still buy, just at a lower rate — the interest is there, money is the real barrier.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68680" y="5478741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C5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lifestyle fit — cars, commute and age — predicts a bike sale better than income or gender ever could.</a:t>
            </a:r>
            <a:endParaRPr lang="en-US" sz="1250" dirty="0">
              <a:solidFill>
                <a:srgbClr val="6C5B9B"/>
              </a:solidFill>
            </a:endParaRP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D76A5645-A5C9-ABCF-5D9D-C3A8DE1EDE51}"/>
              </a:ext>
            </a:extLst>
          </p:cNvPr>
          <p:cNvSpPr/>
          <p:nvPr/>
        </p:nvSpPr>
        <p:spPr>
          <a:xfrm>
            <a:off x="9034831" y="1675784"/>
            <a:ext cx="1920240" cy="1760875"/>
          </a:xfrm>
          <a:prstGeom prst="roundRect">
            <a:avLst>
              <a:gd name="adj" fmla="val 8571"/>
            </a:avLst>
          </a:prstGeom>
          <a:solidFill>
            <a:srgbClr val="241B4E"/>
          </a:solidFill>
          <a:ln/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11F5BA3B-D7BF-8DD9-8865-1B3C3C32D456}"/>
              </a:ext>
            </a:extLst>
          </p:cNvPr>
          <p:cNvSpPr/>
          <p:nvPr/>
        </p:nvSpPr>
        <p:spPr>
          <a:xfrm>
            <a:off x="9263431" y="1904385"/>
            <a:ext cx="1463040" cy="1396599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2EEC6B50-CBAB-E741-CFDD-CEDEF68CDA5F}"/>
              </a:ext>
            </a:extLst>
          </p:cNvPr>
          <p:cNvSpPr/>
          <p:nvPr/>
        </p:nvSpPr>
        <p:spPr>
          <a:xfrm>
            <a:off x="9720631" y="1566056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D9A441"/>
          </a:solidFill>
          <a:ln/>
        </p:spPr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C5B99506-CFF5-B64F-9558-D43CD23C8BC4}"/>
              </a:ext>
            </a:extLst>
          </p:cNvPr>
          <p:cNvSpPr/>
          <p:nvPr/>
        </p:nvSpPr>
        <p:spPr>
          <a:xfrm>
            <a:off x="9418879" y="216956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7C8ECC11-ECE1-B2BE-664D-1E4732DEFEBC}"/>
              </a:ext>
            </a:extLst>
          </p:cNvPr>
          <p:cNvSpPr/>
          <p:nvPr/>
        </p:nvSpPr>
        <p:spPr>
          <a:xfrm>
            <a:off x="9684055" y="2270144"/>
            <a:ext cx="777240" cy="0"/>
          </a:xfrm>
          <a:prstGeom prst="line">
            <a:avLst/>
          </a:prstGeom>
          <a:noFill/>
          <a:ln w="38100">
            <a:solidFill>
              <a:srgbClr val="352866"/>
            </a:solidFill>
            <a:prstDash val="solid"/>
          </a:ln>
        </p:spPr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C8E24D59-5FC9-8FFE-EA10-6405B349380D}"/>
              </a:ext>
            </a:extLst>
          </p:cNvPr>
          <p:cNvSpPr/>
          <p:nvPr/>
        </p:nvSpPr>
        <p:spPr>
          <a:xfrm>
            <a:off x="9684055" y="2727344"/>
            <a:ext cx="777240" cy="0"/>
          </a:xfrm>
          <a:prstGeom prst="line">
            <a:avLst/>
          </a:prstGeom>
          <a:noFill/>
          <a:ln w="38100">
            <a:solidFill>
              <a:srgbClr val="352866"/>
            </a:solidFill>
            <a:prstDash val="solid"/>
          </a:ln>
        </p:spPr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F3932DE4-55B5-5A97-41E4-C52015E8DD62}"/>
              </a:ext>
            </a:extLst>
          </p:cNvPr>
          <p:cNvSpPr/>
          <p:nvPr/>
        </p:nvSpPr>
        <p:spPr>
          <a:xfrm>
            <a:off x="9418879" y="308396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D3B4FBFE-D206-6DD3-3838-88839D07F106}"/>
              </a:ext>
            </a:extLst>
          </p:cNvPr>
          <p:cNvSpPr/>
          <p:nvPr/>
        </p:nvSpPr>
        <p:spPr>
          <a:xfrm>
            <a:off x="9684055" y="3184544"/>
            <a:ext cx="777240" cy="0"/>
          </a:xfrm>
          <a:prstGeom prst="line">
            <a:avLst/>
          </a:prstGeom>
          <a:noFill/>
          <a:ln w="38100">
            <a:solidFill>
              <a:srgbClr val="352866"/>
            </a:solidFill>
            <a:prstDash val="solid"/>
          </a:ln>
        </p:spPr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355F3C75-37EA-12C7-C0C9-8C883B46AEDC}"/>
              </a:ext>
            </a:extLst>
          </p:cNvPr>
          <p:cNvSpPr/>
          <p:nvPr/>
        </p:nvSpPr>
        <p:spPr>
          <a:xfrm>
            <a:off x="8577631" y="1264304"/>
            <a:ext cx="320040" cy="320040"/>
          </a:xfrm>
          <a:prstGeom prst="ellipse">
            <a:avLst/>
          </a:prstGeom>
          <a:ln w="15875">
            <a:solidFill>
              <a:srgbClr val="D9A441"/>
            </a:solidFill>
            <a:prstDash val="solid"/>
          </a:ln>
        </p:spPr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676919D3-577F-7423-3F2B-DB6782662BA3}"/>
              </a:ext>
            </a:extLst>
          </p:cNvPr>
          <p:cNvSpPr/>
          <p:nvPr/>
        </p:nvSpPr>
        <p:spPr>
          <a:xfrm>
            <a:off x="11046511" y="1447184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06AA6E-FB49-C426-34F0-D539CD37C380}"/>
              </a:ext>
            </a:extLst>
          </p:cNvPr>
          <p:cNvSpPr txBox="1"/>
          <p:nvPr/>
        </p:nvSpPr>
        <p:spPr>
          <a:xfrm>
            <a:off x="8770776" y="3557016"/>
            <a:ext cx="2476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to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1912</Words>
  <Application>Microsoft Office PowerPoint</Application>
  <PresentationFormat>Widescreen</PresentationFormat>
  <Paragraphs>176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Deepak N</cp:lastModifiedBy>
  <cp:revision>4</cp:revision>
  <dcterms:created xsi:type="dcterms:W3CDTF">2026-09-20T08:45:10Z</dcterms:created>
  <dcterms:modified xsi:type="dcterms:W3CDTF">2026-09-20T16:30:48Z</dcterms:modified>
</cp:coreProperties>
</file>